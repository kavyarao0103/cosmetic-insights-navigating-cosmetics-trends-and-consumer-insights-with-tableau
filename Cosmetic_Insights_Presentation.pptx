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5A880"/>
                </a:solidFill>
                <a:latin typeface="Arial"/>
              </a:defRPr>
            </a:pPr>
            <a:r>
              <a:t>TABLEAU BUSINESS INTELLIGENCE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Cosmetic Insights: Navigating Cosmetics Trends and Consumer Insights with Tableau</a:t>
            </a:r>
          </a:p>
          <a:p>
            <a:pPr>
              <a:spcAft>
                <a:spcPts val="3000"/>
              </a:spcAft>
              <a:defRPr sz="1600">
                <a:solidFill>
                  <a:srgbClr val="9E7A82"/>
                </a:solidFill>
                <a:latin typeface="Arial"/>
              </a:defRPr>
            </a:pPr>
            <a:r>
              <a:t>Data-Driven Business Intelligence for the Modern Beauty Market</a:t>
            </a:r>
          </a:p>
          <a:p>
            <a:pPr>
              <a:defRPr sz="1100">
                <a:solidFill>
                  <a:srgbClr val="C5A880"/>
                </a:solidFill>
                <a:latin typeface="Arial"/>
              </a:defRPr>
            </a:pPr>
            <a:r>
              <a:t>Presenter: Data Analyst   |   Date: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E1E24"/>
                </a:solidFill>
                <a:latin typeface="Georgia"/>
              </a:defRPr>
            </a:pPr>
            <a:r>
              <a:t>THE 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E1E24"/>
                </a:solidFill>
                <a:latin typeface="Georgia"/>
              </a:defRPr>
            </a:pPr>
            <a:r>
              <a:t>The Modern Cosmetics Dilemma</a:t>
            </a:r>
          </a:p>
          <a:p>
            <a:pPr>
              <a:defRPr sz="1300">
                <a:solidFill>
                  <a:srgbClr val="332F2C"/>
                </a:solidFill>
                <a:latin typeface="Arial"/>
              </a:defRPr>
            </a:pPr>
            <a:r>
              <a:t>Beauty retailers and brands struggle to match R&amp;D and raw materials inventory with hyper-localized, rapidly shifting customer skin profiles and micro-trends.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1645920"/>
            <a:ext cx="56692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7373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E1E24"/>
                </a:solidFill>
                <a:latin typeface="Arial"/>
              </a:defRPr>
            </a:pPr>
            <a:r>
              <a:t>01. Trend Hyper-Fragmentation</a:t>
            </a:r>
          </a:p>
          <a:p>
            <a:pPr>
              <a:defRPr sz="1050">
                <a:solidFill>
                  <a:srgbClr val="332F2C"/>
                </a:solidFill>
                <a:latin typeface="Arial"/>
              </a:defRPr>
            </a:pPr>
            <a:r>
              <a:t>Extremely short micro-trend cycles driven by viral social media skincare formulations.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2788920"/>
            <a:ext cx="56692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8803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E1E24"/>
                </a:solidFill>
                <a:latin typeface="Arial"/>
              </a:defRPr>
            </a:pPr>
            <a:r>
              <a:t>02. Information Disconnect</a:t>
            </a:r>
          </a:p>
          <a:p>
            <a:pPr>
              <a:defRPr sz="1050">
                <a:solidFill>
                  <a:srgbClr val="332F2C"/>
                </a:solidFill>
                <a:latin typeface="Arial"/>
              </a:defRPr>
            </a:pPr>
            <a:r>
              <a:t>Total lack of centralized visibility mapping product-level chemical safety with shopper profiles.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3931920"/>
            <a:ext cx="56692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402335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E1E24"/>
                </a:solidFill>
                <a:latin typeface="Arial"/>
              </a:defRPr>
            </a:pPr>
            <a:r>
              <a:t>03. Inventory &amp; Financial Risk</a:t>
            </a:r>
          </a:p>
          <a:p>
            <a:pPr>
              <a:defRPr sz="1050">
                <a:solidFill>
                  <a:srgbClr val="332F2C"/>
                </a:solidFill>
                <a:latin typeface="Arial"/>
              </a:defRPr>
            </a:pPr>
            <a:r>
              <a:t>Massive overhead waste because seasonal purchasing projections rely on historical guesswork.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5074920"/>
            <a:ext cx="56692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516635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E1E24"/>
                </a:solidFill>
                <a:latin typeface="Arial"/>
              </a:defRPr>
            </a:pPr>
            <a:r>
              <a:t>04. R&amp;D Isolation</a:t>
            </a:r>
          </a:p>
          <a:p>
            <a:pPr>
              <a:defRPr sz="1050">
                <a:solidFill>
                  <a:srgbClr val="332F2C"/>
                </a:solidFill>
                <a:latin typeface="Arial"/>
              </a:defRPr>
            </a:pPr>
            <a:r>
              <a:t>Siloed environments between online feedback channels, store operations, and formulation labs.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E1E24"/>
                </a:solidFill>
                <a:latin typeface="Georgia"/>
              </a:defRPr>
            </a:pPr>
            <a:r>
              <a:t>PROJECT GOALS &amp;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9E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51206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2E1E24"/>
                </a:solidFill>
                <a:latin typeface="Georgia"/>
              </a:defRPr>
            </a:pPr>
            <a:r>
              <a:t>Unified Data Ledger</a:t>
            </a:r>
          </a:p>
          <a:p>
            <a:pPr>
              <a:defRPr sz="1200">
                <a:solidFill>
                  <a:srgbClr val="332F2C"/>
                </a:solidFill>
                <a:latin typeface="Arial"/>
              </a:defRPr>
            </a:pPr>
            <a:r>
              <a:t>Clean, aggregate, and structuralize millions of global transactions into standardized dimensions.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120640" cy="73152"/>
          </a:xfrm>
          <a:prstGeom prst="rect">
            <a:avLst/>
          </a:prstGeom>
          <a:solidFill>
            <a:srgbClr val="9E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0" y="1719072"/>
            <a:ext cx="51206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2E1E24"/>
                </a:solidFill>
                <a:latin typeface="Georgia"/>
              </a:defRPr>
            </a:pPr>
            <a:r>
              <a:t>Interactive Business Workspace</a:t>
            </a:r>
          </a:p>
          <a:p>
            <a:pPr>
              <a:defRPr sz="1200">
                <a:solidFill>
                  <a:srgbClr val="332F2C"/>
                </a:solidFill>
                <a:latin typeface="Arial"/>
              </a:defRPr>
            </a:pPr>
            <a:r>
              <a:t>Deliver self-serve business intelligence dashboards to eliminate organizational silos for R&amp;D and marketing.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5120640" cy="73152"/>
          </a:xfrm>
          <a:prstGeom prst="rect">
            <a:avLst/>
          </a:prstGeom>
          <a:solidFill>
            <a:srgbClr val="9E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05072"/>
            <a:ext cx="51206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2E1E24"/>
                </a:solidFill>
                <a:latin typeface="Georgia"/>
              </a:defRPr>
            </a:pPr>
            <a:r>
              <a:t>Target Cohort Localization</a:t>
            </a:r>
          </a:p>
          <a:p>
            <a:pPr>
              <a:defRPr sz="1200">
                <a:solidFill>
                  <a:srgbClr val="332F2C"/>
                </a:solidFill>
                <a:latin typeface="Arial"/>
              </a:defRPr>
            </a:pPr>
            <a:r>
              <a:t>Isolate specific high-margin skin profile demographics to target hyper-focused ad spend.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931920"/>
            <a:ext cx="5120640" cy="73152"/>
          </a:xfrm>
          <a:prstGeom prst="rect">
            <a:avLst/>
          </a:prstGeom>
          <a:solidFill>
            <a:srgbClr val="9E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005072"/>
            <a:ext cx="51206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2E1E24"/>
                </a:solidFill>
                <a:latin typeface="Georgia"/>
              </a:defRPr>
            </a:pPr>
            <a:r>
              <a:t>Operational Optimization</a:t>
            </a:r>
          </a:p>
          <a:p>
            <a:pPr>
              <a:defRPr sz="1200">
                <a:solidFill>
                  <a:srgbClr val="332F2C"/>
                </a:solidFill>
                <a:latin typeface="Arial"/>
              </a:defRPr>
            </a:pPr>
            <a:r>
              <a:t>Pinpoint return-heavy product combinations to reduce supply chain and reverse-logistics overhead.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E1E24"/>
                </a:solidFill>
                <a:latin typeface="Georgia"/>
              </a:defRPr>
            </a:pPr>
            <a:r>
              <a:t>DATA ARCHITECTURE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2926080"/>
            <a:ext cx="182880" cy="18288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377440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9E7A82"/>
                </a:solidFill>
                <a:latin typeface="Arial"/>
              </a:defRPr>
            </a:pPr>
            <a:r>
              <a:t>1. INGESTION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Ingested 50,000+ transactional rows mapping Product, Customer, Transaction, and Feedback dimensions.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0" y="2926080"/>
            <a:ext cx="182880" cy="18288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377440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9E7A82"/>
                </a:solidFill>
                <a:latin typeface="Arial"/>
              </a:defRPr>
            </a:pPr>
            <a:r>
              <a:t>2. STANDARDIZATION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Unified text variances across category fields (e.g., standardizing 'Skincare' vs 'Skin Care').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2926080"/>
            <a:ext cx="182880" cy="18288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377440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9E7A82"/>
                </a:solidFill>
                <a:latin typeface="Arial"/>
              </a:defRPr>
            </a:pPr>
            <a:r>
              <a:t>3. IMPUTATION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Applied localized statistical modes to fill null values in skin profile fields safely.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645920"/>
            <a:ext cx="2377440" cy="438912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9E7A82"/>
                </a:solidFill>
                <a:latin typeface="Arial"/>
              </a:defRPr>
            </a:pPr>
            <a:r>
              <a:t>4. ENRICHMENT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Engineered a custom Customer Satisfaction Index (CSI) blending review scores and reverse return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E1E24"/>
                </a:solidFill>
                <a:latin typeface="Georgia"/>
              </a:defRPr>
            </a:pPr>
            <a:r>
              <a:t>DASHBOARD: EXECUTIVE SALES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E1E24"/>
                </a:solidFill>
                <a:latin typeface="Georgia"/>
              </a:defRPr>
            </a:pPr>
            <a:r>
              <a:t>High-Level Macro Performance Tracking</a:t>
            </a:r>
          </a:p>
          <a:p>
            <a:pPr>
              <a:spcAft>
                <a:spcPts val="1500"/>
              </a:spcAft>
              <a:defRPr sz="1300">
                <a:solidFill>
                  <a:srgbClr val="332F2C"/>
                </a:solidFill>
                <a:latin typeface="Arial"/>
              </a:defRPr>
            </a:pPr>
            <a:r>
              <a:t>Designed for C-suite and Sales Directors to gain instant visibility over the entire cosmetics portfolio with interactive core KPIs.</a:t>
            </a:r>
          </a:p>
          <a:p>
            <a:pPr>
              <a:spcAft>
                <a:spcPts val="800"/>
              </a:spcAft>
              <a:defRPr sz="1100">
                <a:solidFill>
                  <a:srgbClr val="332F2C"/>
                </a:solidFill>
                <a:latin typeface="Arial"/>
              </a:defRPr>
            </a:pPr>
            <a:r>
              <a:t>• KPI Master Cards: Track Total Revenue, Total Transaction Volume, Average Order Value (AOV), and customer-weighted ratings.</a:t>
            </a:r>
          </a:p>
          <a:p>
            <a:pPr>
              <a:spcAft>
                <a:spcPts val="800"/>
              </a:spcAft>
              <a:defRPr sz="1100">
                <a:solidFill>
                  <a:srgbClr val="332F2C"/>
                </a:solidFill>
                <a:latin typeface="Arial"/>
              </a:defRPr>
            </a:pPr>
            <a:r>
              <a:t>• Dynamic Revenue Growth: Interactive Month-over-Month trendline indicating seasonal retail peaks (e.g., Q4 holidays).</a:t>
            </a:r>
          </a:p>
          <a:p>
            <a:pPr>
              <a:spcAft>
                <a:spcPts val="800"/>
              </a:spcAft>
              <a:defRPr sz="1100">
                <a:solidFill>
                  <a:srgbClr val="332F2C"/>
                </a:solidFill>
                <a:latin typeface="Arial"/>
              </a:defRPr>
            </a:pPr>
            <a:r>
              <a:t>• Geographical Heatmap: Visual density map scaling sales across regional boundaries to expose market penetration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EEE9E4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2004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9E7A82"/>
                </a:solidFill>
                <a:latin typeface="Arial"/>
              </a:defRPr>
            </a:pPr>
            <a:r>
              <a:t>[ EXECUTIVE DASHBOARD WORKSPACE ]</a:t>
            </a:r>
          </a:p>
          <a:p>
            <a:pPr algn="ctr">
              <a:defRPr sz="1100">
                <a:solidFill>
                  <a:srgbClr val="332F2C"/>
                </a:solidFill>
                <a:latin typeface="Arial"/>
              </a:defRPr>
            </a:pPr>
            <a:r>
              <a:t>Integrated geographical maps, dynamic MoM timelines, and top performance metric panels.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E1E24"/>
                </a:solidFill>
                <a:latin typeface="Georgia"/>
              </a:defRPr>
            </a:pPr>
            <a:r>
              <a:t>DASHBOARD: CONSUMER DEMOGRAPHICS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389120"/>
          </a:xfrm>
          <a:prstGeom prst="rect">
            <a:avLst/>
          </a:prstGeom>
          <a:solidFill>
            <a:srgbClr val="EEE9E4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9E7A82"/>
                </a:solidFill>
                <a:latin typeface="Arial"/>
              </a:defRPr>
            </a:pPr>
            <a:r>
              <a:t>[ DEMOGRAPHICS &amp; COHORT HEATMAP ]</a:t>
            </a:r>
          </a:p>
          <a:p>
            <a:pPr algn="ctr">
              <a:defRPr sz="1100">
                <a:solidFill>
                  <a:srgbClr val="332F2C"/>
                </a:solidFill>
                <a:latin typeface="Arial"/>
              </a:defRPr>
            </a:pPr>
            <a:r>
              <a:t>Interactive skin profiles cross-analyzed against generational brackets (Gen Z, Millennials, Gen X, Boomers).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E1E24"/>
                </a:solidFill>
                <a:latin typeface="Georgia"/>
              </a:defRPr>
            </a:pPr>
            <a:r>
              <a:t>Hyper-Personalization Strategy Workspace</a:t>
            </a:r>
          </a:p>
          <a:p>
            <a:pPr>
              <a:spcAft>
                <a:spcPts val="1500"/>
              </a:spcAft>
              <a:defRPr sz="1300">
                <a:solidFill>
                  <a:srgbClr val="332F2C"/>
                </a:solidFill>
                <a:latin typeface="Arial"/>
              </a:defRPr>
            </a:pPr>
            <a:r>
              <a:t>Aligning consumer physical profiles directly with operational product developer formulas to prevent generic marketing waste.</a:t>
            </a:r>
          </a:p>
          <a:p>
            <a:pPr>
              <a:spcAft>
                <a:spcPts val="800"/>
              </a:spcAft>
              <a:defRPr sz="1100">
                <a:solidFill>
                  <a:srgbClr val="332F2C"/>
                </a:solidFill>
                <a:latin typeface="Arial"/>
              </a:defRPr>
            </a:pPr>
            <a:r>
              <a:t>• Product-Market Fit Heatmap: Cross-references four central skin types (Oily, Dry, Sensitive, Combination) against exact catalog lines.</a:t>
            </a:r>
          </a:p>
          <a:p>
            <a:pPr>
              <a:spcAft>
                <a:spcPts val="800"/>
              </a:spcAft>
              <a:defRPr sz="1100">
                <a:solidFill>
                  <a:srgbClr val="332F2C"/>
                </a:solidFill>
                <a:latin typeface="Arial"/>
              </a:defRPr>
            </a:pPr>
            <a:r>
              <a:t>• Spending Distribution Charts: Bar chart analysis mapping specific age-groups with purchase volume per transactional basket.</a:t>
            </a:r>
          </a:p>
          <a:p>
            <a:pPr>
              <a:spcAft>
                <a:spcPts val="800"/>
              </a:spcAft>
              <a:defRPr sz="1100">
                <a:solidFill>
                  <a:srgbClr val="332F2C"/>
                </a:solidFill>
                <a:latin typeface="Arial"/>
              </a:defRPr>
            </a:pPr>
            <a:r>
              <a:t>• Localized Demographics: Interactive filters tracking regional skin preferences to optimize specialized local warehouse inventories.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E1E24"/>
                </a:solidFill>
                <a:latin typeface="Georgia"/>
              </a:defRPr>
            </a:pPr>
            <a:r>
              <a:t>STRATEGIC DATA DISCOVERIES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33832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2E1E24"/>
                </a:solidFill>
                <a:latin typeface="Georgia"/>
              </a:defRPr>
            </a:pPr>
            <a:r>
              <a:t>THE 'CLEAN BEAUTY' PREMIUM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Organic, clean, and paraben-free ingredients command a massive 22% higher average price point while maintaining 15% lower transaction returns globally.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383280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719072"/>
            <a:ext cx="33832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2E1E24"/>
                </a:solidFill>
                <a:latin typeface="Georgia"/>
              </a:defRPr>
            </a:pPr>
            <a:r>
              <a:t>THE SENSITIVE SKIN OPPORTUNITY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Products specifically targeting sensitive skin represent our fastest scaling pipeline, indicating a 34% Year-over-Year volume spike in serum purchases.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645920"/>
            <a:ext cx="3383280" cy="73152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719072"/>
            <a:ext cx="33832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2E1E24"/>
                </a:solidFill>
                <a:latin typeface="Georgia"/>
              </a:defRPr>
            </a:pPr>
            <a:r>
              <a:t>CHANNEL SHIFT DICHOTOMY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Digital e-commerce dominates transaction volume for low-cost replenishment, while luxury perfumes and premium skincare remain reliant on hands-on retail locations.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E1E24"/>
                </a:solidFill>
                <a:latin typeface="Georgia"/>
              </a:defRPr>
            </a:pPr>
            <a:r>
              <a:t>BUSINESS VALUE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E7A82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645920"/>
            <a:ext cx="960120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783080"/>
            <a:ext cx="9235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2E1E24"/>
                </a:solidFill>
                <a:latin typeface="Arial"/>
              </a:defRPr>
            </a:pPr>
            <a:r>
              <a:t>Marketing &amp; Campaigns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Double down on specialized clean ingredient social media campaigns focused on the highly-lucrative millennial and Gen Z buyer buckets.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E7A82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154680"/>
            <a:ext cx="960120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291840"/>
            <a:ext cx="9235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2E1E24"/>
                </a:solidFill>
                <a:latin typeface="Arial"/>
              </a:defRPr>
            </a:pPr>
            <a:r>
              <a:t>Product Formulation R&amp;D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Expedite testing and manufacturing pipelines for clean-label, certified safe formulations across our dominant sensitive skincare serums.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9E7A82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663440"/>
            <a:ext cx="9601200" cy="118872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800600"/>
            <a:ext cx="9235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2E1E24"/>
                </a:solidFill>
                <a:latin typeface="Arial"/>
              </a:defRPr>
            </a:pPr>
            <a:r>
              <a:t>Logistics &amp; Warehouse Shift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Scale back low-performing makeup kit profiles on digital platforms to mitigate heavy e-commerce return rates and packaging damages.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2E1E24"/>
                </a:solidFill>
                <a:latin typeface="Georgia"/>
              </a:defRPr>
            </a:pPr>
            <a:r>
              <a:t>CONCLUSION &amp; FUTURE BLUEPRINT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36576"/>
          </a:xfrm>
          <a:prstGeom prst="rect">
            <a:avLst/>
          </a:prstGeom>
          <a:solidFill>
            <a:srgbClr val="C5A880"/>
          </a:solidFill>
          <a:ln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9E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33832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2E1E24"/>
                </a:solidFill>
                <a:latin typeface="Georgia"/>
              </a:defRPr>
            </a:pPr>
            <a:r>
              <a:t>Interactive Data Migration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Successfully evolved stagnant legacy spreadsheets into localized, automated business intelligence tools accessible globally.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383280" cy="73152"/>
          </a:xfrm>
          <a:prstGeom prst="rect">
            <a:avLst/>
          </a:prstGeom>
          <a:solidFill>
            <a:srgbClr val="9E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719072"/>
            <a:ext cx="33832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2E1E24"/>
                </a:solidFill>
                <a:latin typeface="Georgia"/>
              </a:defRPr>
            </a:pPr>
            <a:r>
              <a:t>Predictive ML Integration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Upcoming Phase: Training integrated machine learning models within Tableau to forecast real-time cosmetics purchase behaviors and ingredient trends.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645920"/>
            <a:ext cx="3383280" cy="73152"/>
          </a:xfrm>
          <a:prstGeom prst="rect">
            <a:avLst/>
          </a:prstGeom>
          <a:solidFill>
            <a:srgbClr val="9E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719072"/>
            <a:ext cx="3383280" cy="4297680"/>
          </a:xfrm>
          <a:prstGeom prst="rect">
            <a:avLst/>
          </a:prstGeom>
          <a:solidFill>
            <a:srgbClr val="FAFAFA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2E1E24"/>
                </a:solidFill>
                <a:latin typeface="Georgia"/>
              </a:defRPr>
            </a:pPr>
            <a:r>
              <a:t>Scalable Visual Architecture</a:t>
            </a:r>
          </a:p>
          <a:p>
            <a:pPr>
              <a:defRPr sz="1150">
                <a:solidFill>
                  <a:srgbClr val="332F2C"/>
                </a:solidFill>
                <a:latin typeface="Arial"/>
              </a:defRPr>
            </a:pPr>
            <a:r>
              <a:t>The database pipeline and visualizations are fully scalable, allowing instant plug-and-play inclusion of new retail physical branches.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E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FFFFFF"/>
                </a:solidFill>
                <a:latin typeface="Georgia"/>
              </a:defRPr>
            </a:pPr>
            <a:r>
              <a:t>Thank You!</a:t>
            </a:r>
          </a:p>
          <a:p>
            <a:pPr>
              <a:spcAft>
                <a:spcPts val="3000"/>
              </a:spcAft>
              <a:defRPr sz="1800">
                <a:solidFill>
                  <a:srgbClr val="C5A880"/>
                </a:solidFill>
                <a:latin typeface="Arial"/>
              </a:defRPr>
            </a:pPr>
            <a:r>
              <a:t>Questions &amp; Answers Session</a:t>
            </a:r>
          </a:p>
          <a:p>
            <a:pPr>
              <a:defRPr sz="1200">
                <a:solidFill>
                  <a:srgbClr val="9E7A82"/>
                </a:solidFill>
                <a:latin typeface="Arial"/>
              </a:defRPr>
            </a:pPr>
            <a:r>
              <a:t>Data Analytics &amp; Tableau BI Solutions   |   github.com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